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88A93"/>
                </a:solidFill>
                <a:latin typeface="Segoe UI"/>
              </a:rPr>
              <a:t>DEMO DAY · ФИНАЛЬНАЯ ЗАЩИТА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7460" y="212598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dirty="0">
                <a:solidFill>
                  <a:srgbClr val="FFFFFF"/>
                </a:solidFill>
                <a:latin typeface="Segoe UI"/>
              </a:rPr>
              <a:t>AI Analytics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7460" y="324612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dirty="0">
                <a:solidFill>
                  <a:srgbClr val="F4E9EA"/>
                </a:solidFill>
                <a:latin typeface="Segoe UI"/>
              </a:rPr>
              <a:t>AI-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помощник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аналитика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: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находит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неоднозначности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и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пробелы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в ТЗ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на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потоки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и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dirty="0" err="1">
                <a:solidFill>
                  <a:srgbClr val="F4E9EA"/>
                </a:solidFill>
                <a:latin typeface="Segoe UI"/>
              </a:rPr>
              <a:t>витрины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данных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—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до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передачи</a:t>
            </a:r>
            <a:r>
              <a:rPr sz="1700" b="0" dirty="0">
                <a:solidFill>
                  <a:srgbClr val="F4E9EA"/>
                </a:solidFill>
                <a:latin typeface="Segoe UI"/>
              </a:rPr>
              <a:t> в </a:t>
            </a:r>
            <a:r>
              <a:rPr sz="1700" b="0" dirty="0" err="1">
                <a:solidFill>
                  <a:srgbClr val="F4E9EA"/>
                </a:solidFill>
                <a:latin typeface="Segoe UI"/>
              </a:rPr>
              <a:t>разработку</a:t>
            </a:r>
            <a:endParaRPr sz="1700" b="0" dirty="0">
              <a:solidFill>
                <a:srgbClr val="F4E9EA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dirty="0" err="1">
                <a:solidFill>
                  <a:srgbClr val="FFFFFF"/>
                </a:solidFill>
                <a:latin typeface="Segoe UI"/>
              </a:rPr>
              <a:t>Ранняя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проверка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дешевле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переделки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: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тот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же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принцип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,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что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автотесты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в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коде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—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на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шаг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раньше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,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для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текста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 ТЗ.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6303F"/>
                </a:solidFill>
                <a:latin typeface="Segoe UI"/>
              </a:rPr>
              <a:t>БЛОК A · КЕЙС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A1215"/>
                </a:solidFill>
                <a:latin typeface="Segoe UI"/>
              </a:rPr>
              <a:t>Продукт — пользователь —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B5558"/>
                </a:solidFill>
                <a:latin typeface="Segoe UI"/>
              </a:rPr>
              <a:t>Команда NET в MTS готовит ТЗ на потоки и витрины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3520440" cy="301752"/>
          </a:xfrm>
          <a:prstGeom prst="rect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ПРОДУКТ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AI-ревьюер технического задания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Проверяет смысл, связи и полноту документа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до того, как он уйдёт в разработку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5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2121408"/>
            <a:ext cx="3520440" cy="301752"/>
          </a:xfrm>
          <a:prstGeom prst="rect">
            <a:avLst/>
          </a:prstGeom>
          <a:solidFill>
            <a:srgbClr val="5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193852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ПОЛЬЗОВАТЕЛЬ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9748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Аналитик команды 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7472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Два подсегмента: с AI-агентом (навык)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5196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и без него (веб-интерфейс)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83880" y="182880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80" y="2121408"/>
            <a:ext cx="3520440" cy="301752"/>
          </a:xfrm>
          <a:prstGeom prst="rect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193852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ПРОБЛЕМА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69748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Часть неоднозначностей не замечается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7472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при самопроверке — и всплывает уже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5196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на разработке и тестировании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492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dirty="0" err="1">
                <a:solidFill>
                  <a:srgbClr val="5A1A24"/>
                </a:solidFill>
                <a:latin typeface="Segoe UI"/>
              </a:rPr>
              <a:t>Тот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5A1A24"/>
                </a:solidFill>
                <a:latin typeface="Segoe UI"/>
              </a:rPr>
              <a:t>же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5A1A24"/>
                </a:solidFill>
                <a:latin typeface="Segoe UI"/>
              </a:rPr>
              <a:t>принцип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, </a:t>
            </a:r>
            <a:r>
              <a:rPr sz="1400" b="1" dirty="0" err="1">
                <a:solidFill>
                  <a:srgbClr val="5A1A24"/>
                </a:solidFill>
                <a:latin typeface="Segoe UI"/>
              </a:rPr>
              <a:t>что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 и в </a:t>
            </a:r>
            <a:r>
              <a:rPr sz="1400" b="1" dirty="0" err="1">
                <a:solidFill>
                  <a:srgbClr val="5A1A24"/>
                </a:solidFill>
                <a:latin typeface="Segoe UI"/>
              </a:rPr>
              <a:t>тестировании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5A1A24"/>
                </a:solidFill>
                <a:latin typeface="Segoe UI"/>
              </a:rPr>
              <a:t>кода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 — </a:t>
            </a:r>
            <a:r>
              <a:rPr sz="1400" b="1" dirty="0" err="1">
                <a:solidFill>
                  <a:srgbClr val="5A1A24"/>
                </a:solidFill>
                <a:latin typeface="Segoe UI"/>
              </a:rPr>
              <a:t>но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5A1A24"/>
                </a:solidFill>
                <a:latin typeface="Segoe UI"/>
              </a:rPr>
              <a:t>на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5A1A24"/>
                </a:solidFill>
                <a:latin typeface="Segoe UI"/>
              </a:rPr>
              <a:t>шаг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5A1A24"/>
                </a:solidFill>
                <a:latin typeface="Segoe UI"/>
              </a:rPr>
              <a:t>раньше</a:t>
            </a:r>
            <a:r>
              <a:rPr sz="1400" b="1" dirty="0">
                <a:solidFill>
                  <a:srgbClr val="5A1A24"/>
                </a:solidFill>
                <a:latin typeface="Segoe UI"/>
              </a:rPr>
              <a:t>. </a:t>
            </a:r>
            <a:r>
              <a:rPr sz="1400" b="0" dirty="0" err="1">
                <a:solidFill>
                  <a:srgbClr val="6B5558"/>
                </a:solidFill>
                <a:latin typeface="Segoe UI"/>
              </a:rPr>
              <a:t>Разработчик</a:t>
            </a:r>
            <a:r>
              <a:rPr sz="1400" b="0" dirty="0">
                <a:solidFill>
                  <a:srgbClr val="6B5558"/>
                </a:solidFill>
                <a:latin typeface="Segoe UI"/>
              </a:rPr>
              <a:t> → </a:t>
            </a:r>
            <a:r>
              <a:rPr sz="1400" b="0" dirty="0" err="1">
                <a:solidFill>
                  <a:srgbClr val="6B5558"/>
                </a:solidFill>
                <a:latin typeface="Segoe UI"/>
              </a:rPr>
              <a:t>автотесты</a:t>
            </a:r>
            <a:r>
              <a:rPr sz="1400" b="0" dirty="0">
                <a:solidFill>
                  <a:srgbClr val="6B5558"/>
                </a:solidFill>
                <a:latin typeface="Segoe UI"/>
              </a:rPr>
              <a:t> → </a:t>
            </a:r>
            <a:r>
              <a:rPr sz="1400" b="0" dirty="0" err="1">
                <a:solidFill>
                  <a:srgbClr val="6B5558"/>
                </a:solidFill>
                <a:latin typeface="Segoe UI"/>
              </a:rPr>
              <a:t>тестировщик</a:t>
            </a:r>
            <a:r>
              <a:rPr sz="1400" b="0" dirty="0">
                <a:solidFill>
                  <a:srgbClr val="6B5558"/>
                </a:solidFill>
                <a:latin typeface="Segoe UI"/>
              </a:rPr>
              <a:t>; </a:t>
            </a:r>
            <a:r>
              <a:rPr sz="1400" b="0" dirty="0" err="1">
                <a:solidFill>
                  <a:srgbClr val="6B5558"/>
                </a:solidFill>
                <a:latin typeface="Segoe UI"/>
              </a:rPr>
              <a:t>аналитик</a:t>
            </a:r>
            <a:r>
              <a:rPr sz="1400" b="0" dirty="0">
                <a:solidFill>
                  <a:srgbClr val="6B555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6B5558"/>
                </a:solidFill>
                <a:latin typeface="Segoe UI"/>
              </a:rPr>
              <a:t>готовит</a:t>
            </a:r>
            <a:r>
              <a:rPr sz="1400" b="0" dirty="0">
                <a:solidFill>
                  <a:srgbClr val="6B5558"/>
                </a:solidFill>
                <a:latin typeface="Segoe UI"/>
              </a:rPr>
              <a:t> ТЗ → AI-</a:t>
            </a:r>
            <a:r>
              <a:rPr sz="1400" b="0" dirty="0" err="1">
                <a:solidFill>
                  <a:srgbClr val="6B5558"/>
                </a:solidFill>
                <a:latin typeface="Segoe UI"/>
              </a:rPr>
              <a:t>ревью</a:t>
            </a:r>
            <a:r>
              <a:rPr sz="1400" b="0" dirty="0">
                <a:solidFill>
                  <a:srgbClr val="6B5558"/>
                </a:solidFill>
                <a:latin typeface="Segoe UI"/>
              </a:rPr>
              <a:t> → </a:t>
            </a:r>
            <a:r>
              <a:rPr sz="1400" b="0" dirty="0" err="1">
                <a:solidFill>
                  <a:srgbClr val="6B5558"/>
                </a:solidFill>
                <a:latin typeface="Segoe UI"/>
              </a:rPr>
              <a:t>разработка</a:t>
            </a:r>
            <a:r>
              <a:rPr sz="1400" b="0" dirty="0">
                <a:solidFill>
                  <a:srgbClr val="6B5558"/>
                </a:solidFill>
                <a:latin typeface="Segoe U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555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6303F"/>
                </a:solidFill>
                <a:latin typeface="Segoe UI"/>
              </a:rPr>
              <a:t>БЛОК B · ЦЕННОСТЬ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A1215"/>
                </a:solidFill>
                <a:latin typeface="Segoe UI"/>
              </a:rPr>
              <a:t>Ценность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B5558"/>
                </a:solidFill>
                <a:latin typeface="Segoe UI"/>
              </a:rPr>
              <a:t>Что изменится для команды — и на чём это уже проверено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577840" cy="3246120"/>
          </a:xfrm>
          <a:prstGeom prst="roundRect">
            <a:avLst>
              <a:gd name="adj" fmla="val 5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6303F"/>
                </a:solidFill>
                <a:latin typeface="Segoe UI"/>
              </a:rPr>
              <a:t>ЧТО ИЗМЕНИТСЯ ДЛЯ ЗАКАЗЧИКА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Неоднозначности и пробелы ТЗ находятся до старта разработки, а не во время неё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Замечания приходят адресно: фрагмент → проблема → причина → вопрос → приоритет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•  Меньше уточнений и повторных согласований между аналитиком и разработкой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6303F"/>
                </a:solidFill>
                <a:latin typeface="Segoe UI"/>
              </a:rPr>
              <a:t>НА ЧЁМ УЖЕ ПРОВЕРЕНО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860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395728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A6303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108960"/>
            <a:ext cx="14721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B5558"/>
                </a:solidFill>
                <a:latin typeface="Segoe UI"/>
              </a:rPr>
              <a:t>тестовых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B5558"/>
                </a:solidFill>
                <a:latin typeface="Segoe UI"/>
              </a:rPr>
              <a:t>документа MTS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860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395728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A6303F"/>
                </a:solidFill>
                <a:latin typeface="Segoe U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108960"/>
            <a:ext cx="14721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B5558"/>
                </a:solidFill>
                <a:latin typeface="Segoe UI"/>
              </a:rPr>
              <a:t>пунктов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B5558"/>
                </a:solidFill>
                <a:latin typeface="Segoe UI"/>
              </a:rPr>
              <a:t>чек-листа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22860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04120" y="2395728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A6303F"/>
                </a:solidFill>
                <a:latin typeface="Segoe U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6688" y="3108960"/>
            <a:ext cx="14721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B5558"/>
                </a:solidFill>
                <a:latin typeface="Segoe UI"/>
              </a:rPr>
              <a:t>кандидатов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B5558"/>
                </a:solidFill>
                <a:latin typeface="Segoe UI"/>
              </a:rPr>
              <a:t>на замечания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4904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5558"/>
                </a:solidFill>
                <a:latin typeface="Segoe UI"/>
              </a:rPr>
              <a:t>Оговорка: это кандидаты из ручного анализа человеком — модель на них ещё не запускалась.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4924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5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46811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D88A93"/>
                </a:solidFill>
                <a:latin typeface="Segoe UI"/>
              </a:rPr>
              <a:t>ГИПОТЕЗА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4243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Мы верим, что AI-проверка документации между подготовкой ТЗ и началом разработки сократит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суммарные трудозатраты команды и задержки за счёт раннего выявления недостатков требований.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555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6303F"/>
                </a:solidFill>
                <a:latin typeface="Segoe UI"/>
              </a:rPr>
              <a:t>БЛОК B · ДЕМО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A1215"/>
                </a:solidFill>
                <a:latin typeface="Segoe UI"/>
              </a:rPr>
              <a:t>Демонстрация: от ТЗ к адресному отчёту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B5558"/>
                </a:solidFill>
                <a:latin typeface="Segoe UI"/>
              </a:rPr>
              <a:t>Один запуск однократного ревью со списком замечаний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246120" cy="1371600"/>
          </a:xfrm>
          <a:prstGeom prst="roundRect">
            <a:avLst>
              <a:gd name="adj" fmla="val 7000"/>
            </a:avLst>
          </a:prstGeom>
          <a:solidFill>
            <a:srgbClr val="B5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39111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D88A93"/>
                </a:solidFill>
                <a:latin typeface="Segoe UI"/>
              </a:rPr>
              <a:t>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39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Готовое ТЗ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+ профиль проверки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+ контекст команды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395727"/>
            <a:ext cx="411480" cy="329184"/>
          </a:xfrm>
          <a:prstGeom prst="rightArrow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3246120" cy="1371600"/>
          </a:xfrm>
          <a:prstGeom prst="roundRect">
            <a:avLst>
              <a:gd name="adj" fmla="val 7000"/>
            </a:avLst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039111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D88A93"/>
                </a:solidFill>
                <a:latin typeface="Segoe UI"/>
              </a:rPr>
              <a:t>ДЕЙСТВИЕ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77439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AI review проверяет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смысл, связи и полноту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(режим: список)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18120" y="2395727"/>
            <a:ext cx="411480" cy="329184"/>
          </a:xfrm>
          <a:prstGeom prst="rightArrow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5320" y="1874519"/>
            <a:ext cx="3246120" cy="1371600"/>
          </a:xfrm>
          <a:prstGeom prst="roundRect">
            <a:avLst>
              <a:gd name="adj" fmla="val 7000"/>
            </a:avLst>
          </a:prstGeom>
          <a:solidFill>
            <a:srgbClr val="5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039111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D88A93"/>
                </a:solidFill>
                <a:latin typeface="Segoe UI"/>
              </a:rPr>
              <a:t>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39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Адресный отчёт: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фрагмент → проблема →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вопрос → приоритет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6B5558"/>
                </a:solidFill>
                <a:latin typeface="Segoe UI"/>
              </a:rPr>
              <a:t>Решение остаётся за аналитиком: исходное ТЗ не меняется.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10607040" cy="1828800"/>
          </a:xfrm>
          <a:prstGeom prst="roundRect">
            <a:avLst>
              <a:gd name="adj" fmla="val 5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343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6303F"/>
                </a:solidFill>
                <a:latin typeface="Segoe UI"/>
              </a:rPr>
              <a:t>ВТОРОЙ РЕЖИМ — ДИАЛОГ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0916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Для неоднозначностей, которые нельзя закрыть одним списком, агент ведёт диалог как разработчик: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2A1215"/>
                </a:solidFill>
                <a:latin typeface="Segoe UI"/>
              </a:rPr>
              <a:t>находит проблему → задаёт вопрос с вариантами → фиксирует решение аналитика.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555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6303F"/>
                </a:solidFill>
                <a:latin typeface="Segoe UI"/>
              </a:rPr>
              <a:t>БЛОК B · ФАКТЫ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A1215"/>
                </a:solidFill>
                <a:latin typeface="Segoe UI"/>
              </a:rPr>
              <a:t>Доказательства: было / стало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B5558"/>
                </a:solidFill>
                <a:latin typeface="Segoe UI"/>
              </a:rPr>
              <a:t>Ориентировочные цифры команды NET — гипотеза для проверки на пилоте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029200" cy="3566160"/>
          </a:xfrm>
          <a:prstGeom prst="roundRect">
            <a:avLst>
              <a:gd name="adj" fmla="val 5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6B5558"/>
                </a:solidFill>
                <a:latin typeface="Segoe UI"/>
              </a:rPr>
              <a:t>БЫЛО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5A1A24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5176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A1215"/>
                </a:solidFill>
                <a:latin typeface="Segoe UI"/>
              </a:rPr>
              <a:t>разработок в месяц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661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5A1A24"/>
                </a:solidFill>
                <a:latin typeface="Segoe UI"/>
              </a:rPr>
              <a:t>4 из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6118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A1215"/>
                </a:solidFill>
                <a:latin typeface="Segoe UI"/>
              </a:rPr>
              <a:t>уходят на повторную проверку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262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5A1A24"/>
                </a:solidFill>
                <a:latin typeface="Segoe UI"/>
              </a:rPr>
              <a:t>~2 часа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57200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A1215"/>
                </a:solidFill>
                <a:latin typeface="Segoe UI"/>
              </a:rPr>
              <a:t>среднее время ответа аналитика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A1215"/>
                </a:solidFill>
                <a:latin typeface="Segoe UI"/>
              </a:rPr>
              <a:t>разработчику/тестировщику по вопросу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97880" y="3383280"/>
            <a:ext cx="548640" cy="548640"/>
          </a:xfrm>
          <a:prstGeom prst="rightArrow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0" y="1920240"/>
            <a:ext cx="5029200" cy="3566160"/>
          </a:xfrm>
          <a:prstGeom prst="roundRect">
            <a:avLst>
              <a:gd name="adj" fmla="val 5000"/>
            </a:avLst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21031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СТАНЕТ (ЦЕЛЬ)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060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4E9EA"/>
                </a:solidFill>
                <a:latin typeface="Segoe UI"/>
              </a:rPr>
              <a:t>меньше доработок за счёт ранних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4E9EA"/>
                </a:solidFill>
                <a:latin typeface="Segoe UI"/>
              </a:rPr>
              <a:t>замечаний по ТЗ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661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~1 час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118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4E9EA"/>
                </a:solidFill>
                <a:latin typeface="Segoe UI"/>
              </a:rPr>
              <a:t>время ответа на вопрос — часть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4E9EA"/>
                </a:solidFill>
                <a:latin typeface="Segoe UI"/>
              </a:rPr>
              <a:t>уточнений снимается ревью заранее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5262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7200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4E9EA"/>
                </a:solidFill>
                <a:latin typeface="Segoe UI"/>
              </a:rPr>
              <a:t>точные цифры — предмет измерения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4E9EA"/>
                </a:solidFill>
                <a:latin typeface="Segoe UI"/>
              </a:rPr>
              <a:t>на пилоте, пока не подтверждены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6B5558"/>
                </a:solidFill>
                <a:latin typeface="Segoe UI"/>
              </a:rPr>
              <a:t>Это ориентир команды, а не измеренный результат: частота возвратов и трудозатраты будут замерены на пилоте.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5558"/>
                </a:solidFill>
                <a:latin typeface="Segoe UI"/>
              </a:rPr>
              <a:t>AI Analytics Review · Demo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555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6303F"/>
                </a:solidFill>
                <a:latin typeface="Segoe UI"/>
              </a:rPr>
              <a:t>БЛОК B · ТЕХЧАСТЬ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A1215"/>
                </a:solidFill>
                <a:latin typeface="Segoe UI"/>
              </a:rPr>
              <a:t>Архитектура и выбор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B5558"/>
                </a:solidFill>
                <a:latin typeface="Segoe UI"/>
              </a:rPr>
              <a:t>Поток данных: откуда пришли → где обработались → куда ушли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3790" y="187451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5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5230" y="1874519"/>
            <a:ext cx="169163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ТЗ + профиль /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контекст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36597" y="2167127"/>
            <a:ext cx="164592" cy="320040"/>
          </a:xfrm>
          <a:prstGeom prst="rightArrow">
            <a:avLst/>
          </a:prstGeom>
          <a:solidFill>
            <a:srgbClr val="6B5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01189" y="187451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92629" y="1874519"/>
            <a:ext cx="169163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Подготовка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документов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93996" y="2167127"/>
            <a:ext cx="164592" cy="320040"/>
          </a:xfrm>
          <a:prstGeom prst="rightArrow">
            <a:avLst/>
          </a:prstGeom>
          <a:solidFill>
            <a:srgbClr val="6B5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58588" y="187451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0028" y="1874519"/>
            <a:ext cx="169163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AI-агент +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навык ревью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51395" y="2167127"/>
            <a:ext cx="164592" cy="320040"/>
          </a:xfrm>
          <a:prstGeom prst="rightArrow">
            <a:avLst/>
          </a:prstGeom>
          <a:solidFill>
            <a:srgbClr val="6B5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15987" y="187451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07427" y="1874519"/>
            <a:ext cx="169163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report.json →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проверка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108794" y="2167127"/>
            <a:ext cx="164592" cy="320040"/>
          </a:xfrm>
          <a:prstGeom prst="rightArrow">
            <a:avLst/>
          </a:prstGeom>
          <a:solidFill>
            <a:srgbClr val="6B5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273386" y="187451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5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64826" y="1874519"/>
            <a:ext cx="169163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report.md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175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B5558"/>
                </a:solidFill>
                <a:latin typeface="Segoe UI"/>
              </a:rPr>
              <a:t>Модель отвечает за смысл (интерпретация, вопросы) — код за воспроизводимость (источники, отчёт).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20440"/>
            <a:ext cx="10607040" cy="1417320"/>
          </a:xfrm>
          <a:prstGeom prst="roundRect">
            <a:avLst>
              <a:gd name="adj" fmla="val 5000"/>
            </a:avLst>
          </a:prstGeom>
          <a:solidFill>
            <a:srgbClr val="FB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3657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6303F"/>
                </a:solidFill>
                <a:latin typeface="Segoe UI"/>
              </a:rPr>
              <a:t>ПОЧЕМУ ДВА РЕЖИМА — СПИСОК И ДИАЛОГ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02336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2A1215"/>
                </a:solidFill>
                <a:latin typeface="Segoe UI"/>
              </a:rPr>
              <a:t>Список за один запуск отдаёт 10–15 адресных замечаний. Но часть моментов требует обсуждения: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2A1215"/>
                </a:solidFill>
                <a:latin typeface="Segoe UI"/>
              </a:rPr>
              <a:t>в списке они смешиваются с обычными правками, а в диалоге агент спрашивает как разработчик,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2A1215"/>
                </a:solidFill>
                <a:latin typeface="Segoe UI"/>
              </a:rPr>
              <a:t>предлагает варианты — и аналитик решает, уточняет или передаёт вопрос команде.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120640"/>
            <a:ext cx="10607040" cy="1097280"/>
          </a:xfrm>
          <a:prstGeom prst="roundRect">
            <a:avLst>
              <a:gd name="adj" fmla="val 5000"/>
            </a:avLst>
          </a:prstGeom>
          <a:solidFill>
            <a:srgbClr val="F3EEEE"/>
          </a:solidFill>
          <a:ln w="15875">
            <a:solidFill>
              <a:srgbClr val="C9B8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1206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6B5558"/>
                </a:solidFill>
                <a:latin typeface="Segoe UI"/>
              </a:rPr>
              <a:t>Детали архитектуры и выбор компонентов — будут дополнены по итогам разработки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5558"/>
                </a:solidFill>
                <a:latin typeface="Segoe UI"/>
              </a:rPr>
              <a:t>AI Analytics Review · Demo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555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6303F"/>
                </a:solidFill>
                <a:latin typeface="Segoe UI"/>
              </a:rPr>
              <a:t>БЛОК C · МЕТРИКИ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A1215"/>
                </a:solidFill>
                <a:latin typeface="Segoe UI"/>
              </a:rPr>
              <a:t>Метрики и экономика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6B5558"/>
                </a:solidFill>
                <a:latin typeface="Segoe UI"/>
              </a:rPr>
              <a:t>Готовится Даней — числа появятся по итогам расчёта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07040" cy="1371600"/>
          </a:xfrm>
          <a:prstGeom prst="roundRect">
            <a:avLst>
              <a:gd name="adj" fmla="val 5000"/>
            </a:avLst>
          </a:prstGeom>
          <a:solidFill>
            <a:srgbClr val="F3EEEE"/>
          </a:solidFill>
          <a:ln w="15875">
            <a:solidFill>
              <a:srgbClr val="C9B8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6B5558"/>
                </a:solidFill>
                <a:latin typeface="Segoe UI"/>
              </a:rPr>
              <a:t>Метрики эффекта (доля полезных замечаний, покрытие проблем,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6B5558"/>
                </a:solidFill>
                <a:latin typeface="Segoe UI"/>
              </a:rPr>
              <a:t>время аналитика на разбор) — будут заполнены после прогона PoC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49039"/>
            <a:ext cx="10607040" cy="1371600"/>
          </a:xfrm>
          <a:prstGeom prst="roundRect">
            <a:avLst>
              <a:gd name="adj" fmla="val 5000"/>
            </a:avLst>
          </a:prstGeom>
          <a:solidFill>
            <a:srgbClr val="F3EEEE"/>
          </a:solidFill>
          <a:ln w="15875">
            <a:solidFill>
              <a:srgbClr val="C9B8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749039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6B5558"/>
                </a:solidFill>
                <a:latin typeface="Segoe UI"/>
              </a:rPr>
              <a:t>Экономический расчёт (стоимость внедрения / экономия трудозатрат) — в работе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5558"/>
                </a:solidFill>
                <a:latin typeface="Segoe UI"/>
              </a:rPr>
              <a:t>AI Analytics Review · Demo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555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B5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88A93"/>
                </a:solidFill>
                <a:latin typeface="Segoe UI"/>
              </a:rPr>
              <a:t>БЛОК D · 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Что доказано — что дальше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B5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ДОКАЗАНО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4E9EA"/>
                </a:solidFill>
                <a:latin typeface="Segoe UI"/>
              </a:rPr>
              <a:t>•  Проблема и сегмент подтверждены Q&amp;A с MTS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4E9EA"/>
                </a:solidFill>
                <a:latin typeface="Segoe UI"/>
              </a:rPr>
              <a:t>•  3 документа, 9 адресных кандидатов на замечания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4E9EA"/>
                </a:solidFill>
                <a:latin typeface="Segoe UI"/>
              </a:rPr>
              <a:t>•  Архитектура и спецификация PoC готовы к сборке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A6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СЛЕДУЮЩИЙ ШАГ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4E9EA"/>
                </a:solidFill>
                <a:latin typeface="Segoe UI"/>
              </a:rPr>
              <a:t>•  Прогон PoC на синтетическом и реальном ТЗ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747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4E9EA"/>
                </a:solidFill>
                <a:latin typeface="Segoe UI"/>
              </a:rPr>
              <a:t>•  Сверка с кандидатами M-01–M-09 вручную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348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4E9EA"/>
                </a:solidFill>
                <a:latin typeface="Segoe UI"/>
              </a:rPr>
              <a:t>•  Интервью с аналитиком/разработчиком/тестировщиком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B5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ЧТО НУЖНО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146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4E9EA"/>
                </a:solidFill>
                <a:latin typeface="Segoe UI"/>
              </a:rPr>
              <a:t>•  Доступ к API модели для запуска 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4747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4E9EA"/>
                </a:solidFill>
                <a:latin typeface="Segoe UI"/>
              </a:rPr>
              <a:t>•  Независимый контрольный документ от MTS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4348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4E9EA"/>
                </a:solidFill>
                <a:latin typeface="Segoe UI"/>
              </a:rPr>
              <a:t>•  Время аналитика на интервью и оценку отчётов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172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Спроектировано и специфицировано — готовы к сборке. Техническая проверка — следующий шаг.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759</Words>
  <Application>Microsoft Office PowerPoint</Application>
  <PresentationFormat>Широкоэкранный</PresentationFormat>
  <Paragraphs>131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Алёна Герасимова</dc:creator>
  <cp:keywords/>
  <dc:description>generated using python-pptx</dc:description>
  <cp:lastModifiedBy>Алёна Герасимова</cp:lastModifiedBy>
  <cp:revision>2</cp:revision>
  <dcterms:created xsi:type="dcterms:W3CDTF">2013-01-27T09:14:16Z</dcterms:created>
  <dcterms:modified xsi:type="dcterms:W3CDTF">2026-09-06T06:31:42Z</dcterms:modified>
  <cp:category/>
</cp:coreProperties>
</file>